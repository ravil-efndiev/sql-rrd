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Fraunces ExtraBold" pitchFamily="2" charset="77"/>
      <p:regular r:id="rId17"/>
      <p:bold r:id="rId18"/>
    </p:embeddedFont>
    <p:embeddedFont>
      <p:font typeface="Nobile" panose="02000503050000020004" pitchFamily="2" charset="0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F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>
        <p:scale>
          <a:sx n="136" d="100"/>
          <a:sy n="136" d="100"/>
        </p:scale>
        <p:origin x="216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16551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EEEE1"/>
          </a:solidFill>
          <a:ln/>
        </p:spPr>
        <p:txBody>
          <a:bodyPr/>
          <a:lstStyle/>
          <a:p>
            <a:endParaRPr lang="en-C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FFA"/>
          </a:solidFill>
          <a:ln/>
        </p:spPr>
        <p:txBody>
          <a:bodyPr/>
          <a:lstStyle/>
          <a:p>
            <a:endParaRPr lang="en-CZ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F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86" y="0"/>
            <a:ext cx="7619809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6340" y="1425674"/>
            <a:ext cx="7430802" cy="400655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61475" y="2472234"/>
            <a:ext cx="3858521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Hbit</a:t>
            </a:r>
            <a:endParaRPr lang="en-US" sz="3700" dirty="0"/>
          </a:p>
        </p:txBody>
      </p:sp>
      <p:sp>
        <p:nvSpPr>
          <p:cNvPr id="5" name="Text 1"/>
          <p:cNvSpPr/>
          <p:nvPr/>
        </p:nvSpPr>
        <p:spPr>
          <a:xfrm>
            <a:off x="661475" y="3346351"/>
            <a:ext cx="3248936" cy="1039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Sledování návyků 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Budování sérií 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Sdílení s přáteli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574" y="1613297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Co je Hbit?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574" y="2581970"/>
            <a:ext cx="11478132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Hbit je webová aplikace, která pomáhá sledovat každodenní návyky, udržovat motivaci a sdílet pokrok s ostatními.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574" y="3097014"/>
            <a:ext cx="3496778" cy="2147590"/>
          </a:xfrm>
          <a:prstGeom prst="roundRect">
            <a:avLst>
              <a:gd name="adj" fmla="val 7921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CZ"/>
          </a:p>
        </p:txBody>
      </p:sp>
      <p:sp>
        <p:nvSpPr>
          <p:cNvPr id="5" name="Shape 3"/>
          <p:cNvSpPr/>
          <p:nvPr/>
        </p:nvSpPr>
        <p:spPr>
          <a:xfrm>
            <a:off x="850581" y="3286026"/>
            <a:ext cx="567021" cy="567035"/>
          </a:xfrm>
          <a:prstGeom prst="roundRect">
            <a:avLst>
              <a:gd name="adj" fmla="val 13436976"/>
            </a:avLst>
          </a:prstGeom>
          <a:solidFill>
            <a:srgbClr val="438951"/>
          </a:solidFill>
          <a:ln/>
        </p:spPr>
        <p:txBody>
          <a:bodyPr/>
          <a:lstStyle/>
          <a:p>
            <a:endParaRPr lang="en-CZ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6549" y="3441898"/>
            <a:ext cx="255085" cy="2550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50581" y="4042073"/>
            <a:ext cx="236263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05449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Sledování aktivit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850581" y="4450755"/>
            <a:ext cx="311876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Zapisujte a odškrtávejte úkoly jedním kliknutím.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4347359" y="3097014"/>
            <a:ext cx="3496877" cy="2147590"/>
          </a:xfrm>
          <a:prstGeom prst="roundRect">
            <a:avLst>
              <a:gd name="adj" fmla="val 7921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CZ"/>
          </a:p>
        </p:txBody>
      </p:sp>
      <p:sp>
        <p:nvSpPr>
          <p:cNvPr id="10" name="Shape 7"/>
          <p:cNvSpPr/>
          <p:nvPr/>
        </p:nvSpPr>
        <p:spPr>
          <a:xfrm>
            <a:off x="4536366" y="3286026"/>
            <a:ext cx="567021" cy="567035"/>
          </a:xfrm>
          <a:prstGeom prst="roundRect">
            <a:avLst>
              <a:gd name="adj" fmla="val 13436976"/>
            </a:avLst>
          </a:prstGeom>
          <a:solidFill>
            <a:srgbClr val="438951"/>
          </a:solidFill>
          <a:ln/>
        </p:spPr>
        <p:txBody>
          <a:bodyPr/>
          <a:lstStyle/>
          <a:p>
            <a:endParaRPr lang="en-CZ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92334" y="3441898"/>
            <a:ext cx="255085" cy="2550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36366" y="4042073"/>
            <a:ext cx="236263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05449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Budování sérií</a:t>
            </a:r>
            <a:endParaRPr lang="en-US" sz="1850" dirty="0"/>
          </a:p>
        </p:txBody>
      </p:sp>
      <p:sp>
        <p:nvSpPr>
          <p:cNvPr id="13" name="Text 9"/>
          <p:cNvSpPr/>
          <p:nvPr/>
        </p:nvSpPr>
        <p:spPr>
          <a:xfrm>
            <a:off x="4536366" y="4450755"/>
            <a:ext cx="311886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Motivace udržovat streaky a nepřerušovat řadu úspěchů.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8033244" y="3097014"/>
            <a:ext cx="3496877" cy="2147590"/>
          </a:xfrm>
          <a:prstGeom prst="roundRect">
            <a:avLst>
              <a:gd name="adj" fmla="val 7921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CZ"/>
          </a:p>
        </p:txBody>
      </p:sp>
      <p:sp>
        <p:nvSpPr>
          <p:cNvPr id="15" name="Shape 11"/>
          <p:cNvSpPr/>
          <p:nvPr/>
        </p:nvSpPr>
        <p:spPr>
          <a:xfrm>
            <a:off x="8222251" y="3286026"/>
            <a:ext cx="567021" cy="567035"/>
          </a:xfrm>
          <a:prstGeom prst="roundRect">
            <a:avLst>
              <a:gd name="adj" fmla="val 13436976"/>
            </a:avLst>
          </a:prstGeom>
          <a:solidFill>
            <a:srgbClr val="438951"/>
          </a:solidFill>
          <a:ln/>
        </p:spPr>
        <p:txBody>
          <a:bodyPr/>
          <a:lstStyle/>
          <a:p>
            <a:endParaRPr lang="en-CZ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78219" y="3441898"/>
            <a:ext cx="255085" cy="25509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2251" y="4042073"/>
            <a:ext cx="236263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05449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Veřejný profil</a:t>
            </a:r>
            <a:endParaRPr lang="en-US" sz="1850" dirty="0"/>
          </a:p>
        </p:txBody>
      </p:sp>
      <p:sp>
        <p:nvSpPr>
          <p:cNvPr id="18" name="Text 13"/>
          <p:cNvSpPr/>
          <p:nvPr/>
        </p:nvSpPr>
        <p:spPr>
          <a:xfrm>
            <a:off x="8222251" y="4450755"/>
            <a:ext cx="311886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Sdílejte výsledky s přáteli a soutěžte navzájem.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574" y="796627"/>
            <a:ext cx="6965677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Zapisování a sledování aktivit</a:t>
            </a:r>
            <a:endParaRPr lang="en-US" sz="3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74" y="2129730"/>
            <a:ext cx="6227309" cy="335964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02090" y="1710928"/>
            <a:ext cx="27359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Jak to funguje?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8002090" y="2129730"/>
            <a:ext cx="3534282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Uživatel si nastaví činnosti, které chce dělat pravidelně — například: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002090" y="2784574"/>
            <a:ext cx="3534282" cy="882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Vypít 2 litry vody denně</a:t>
            </a:r>
            <a:endParaRPr lang="en-US" sz="130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Učit se 30 minut programovat</a:t>
            </a:r>
            <a:endParaRPr lang="en-US" sz="130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Jít si zaběhat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02090" y="3805138"/>
            <a:ext cx="3534282" cy="1034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Po splnění úkolu jedním kliknutím odškrtne, že ho splnil. Aplikace zobrazuje kalendář a grafy produktivity za týden nebo měsíc.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002090" y="5011638"/>
            <a:ext cx="3534282" cy="877491"/>
          </a:xfrm>
          <a:prstGeom prst="roundRect">
            <a:avLst>
              <a:gd name="adj" fmla="val 17448"/>
            </a:avLst>
          </a:prstGeom>
          <a:solidFill>
            <a:srgbClr val="CCE6D1"/>
          </a:solidFill>
          <a:ln/>
        </p:spPr>
        <p:txBody>
          <a:bodyPr/>
          <a:lstStyle/>
          <a:p>
            <a:endParaRPr lang="en-CZ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2146" y="5246787"/>
            <a:ext cx="212620" cy="17006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554823" y="5191820"/>
            <a:ext cx="2811491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Přehled hotové práce a statistiky plnění jsou vždy po ruce.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574" y="1814711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Budování streaků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574" y="2783384"/>
            <a:ext cx="11478132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Jedna z hlavních motivací v aplikaci — čím delší série, tím větší chuť pokračovat.</a:t>
            </a:r>
            <a:endParaRPr lang="en-US" sz="1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6175" y="3298428"/>
            <a:ext cx="3522178" cy="17447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52179" y="3512840"/>
            <a:ext cx="236263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05449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Aktuální série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952179" y="3921522"/>
            <a:ext cx="299176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Aplikace ukazuje: </a:t>
            </a:r>
            <a:r>
              <a:rPr lang="en-US" sz="14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„Plníš návyk už 5 dní v řadě"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. Číslo motivuje pokračovat a nepřerušit řadu.</a:t>
            </a:r>
            <a:endParaRPr lang="en-US" sz="14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1960" y="3298428"/>
            <a:ext cx="3522277" cy="17447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37964" y="3512840"/>
            <a:ext cx="236263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05449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Soutěž s přáteli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4637964" y="3921522"/>
            <a:ext cx="299186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Lidé mohou soutěžit s přáteli a navzájem se hlídat, zda své cíle plní.</a:t>
            </a:r>
            <a:endParaRPr lang="en-US" sz="14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7844" y="3298428"/>
            <a:ext cx="3522277" cy="174476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323848" y="3512840"/>
            <a:ext cx="236263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05449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Nejdelší série</a:t>
            </a:r>
            <a:endParaRPr lang="en-US" sz="1850" dirty="0"/>
          </a:p>
        </p:txBody>
      </p:sp>
      <p:sp>
        <p:nvSpPr>
          <p:cNvPr id="12" name="Text 7"/>
          <p:cNvSpPr/>
          <p:nvPr/>
        </p:nvSpPr>
        <p:spPr>
          <a:xfrm>
            <a:off x="8323848" y="3921522"/>
            <a:ext cx="299186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Aplikace uchovává i rekord — nejdelší dosaženou sérii pro každý návyk.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574" y="1176933"/>
            <a:ext cx="7373753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Veřejné sdílení a typy aktivit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574" y="2240062"/>
            <a:ext cx="297222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Profil a sdílení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661574" y="2724348"/>
            <a:ext cx="520369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Každý uživatel má veřejný profil s přezdívkou, fotkou a výsledky. Může sdílet: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61574" y="3499247"/>
            <a:ext cx="5203695" cy="6709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Všem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— kdokoli vidí návyky a série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Pouze přátelům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— po přijetí žádosti o přátelství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332776" y="2240062"/>
            <a:ext cx="297222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Dva typy aktivit</a:t>
            </a:r>
            <a:endParaRPr lang="en-US" sz="1850" dirty="0"/>
          </a:p>
        </p:txBody>
      </p:sp>
      <p:sp>
        <p:nvSpPr>
          <p:cNvPr id="7" name="Shape 5"/>
          <p:cNvSpPr/>
          <p:nvPr/>
        </p:nvSpPr>
        <p:spPr>
          <a:xfrm>
            <a:off x="6332776" y="2747962"/>
            <a:ext cx="2507294" cy="2720479"/>
          </a:xfrm>
          <a:prstGeom prst="roundRect">
            <a:avLst>
              <a:gd name="adj" fmla="val 6785"/>
            </a:avLst>
          </a:prstGeom>
          <a:solidFill>
            <a:srgbClr val="FAFFFA"/>
          </a:solidFill>
          <a:ln w="25399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CZ"/>
          </a:p>
        </p:txBody>
      </p:sp>
      <p:sp>
        <p:nvSpPr>
          <p:cNvPr id="8" name="Text 6"/>
          <p:cNvSpPr/>
          <p:nvPr/>
        </p:nvSpPr>
        <p:spPr>
          <a:xfrm>
            <a:off x="6547182" y="2962374"/>
            <a:ext cx="207848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05449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Pravidelné návyky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547182" y="3741936"/>
            <a:ext cx="2078482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Každodenní nebo týdenní činnosti — aplikace hlídá série. Např. večerní čtení, posilovna 3× týdně.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029077" y="2747962"/>
            <a:ext cx="2507394" cy="2720479"/>
          </a:xfrm>
          <a:prstGeom prst="roundRect">
            <a:avLst>
              <a:gd name="adj" fmla="val 6785"/>
            </a:avLst>
          </a:prstGeom>
          <a:solidFill>
            <a:srgbClr val="FAFFFA"/>
          </a:solidFill>
          <a:ln w="25399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CZ"/>
          </a:p>
        </p:txBody>
      </p:sp>
      <p:sp>
        <p:nvSpPr>
          <p:cNvPr id="11" name="Text 9"/>
          <p:cNvSpPr/>
          <p:nvPr/>
        </p:nvSpPr>
        <p:spPr>
          <a:xfrm>
            <a:off x="9243484" y="2962374"/>
            <a:ext cx="2078581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05449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Jednorázové aktivity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9243484" y="3741936"/>
            <a:ext cx="2078581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Funguje jako klasický To-Do list. Uživatel zapíše úkol, splní ho a má přehled.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574" y="1523603"/>
            <a:ext cx="7354604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Proč potřebujeme databázi?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574" y="2492276"/>
            <a:ext cx="1086854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Aby Hbit fungoval správně, musí všechna data bezpečně a trvale ukládat. Databáze je základní stavební kámen celé aplikace.</a:t>
            </a:r>
            <a:endParaRPr lang="en-US" sz="1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574" y="3309739"/>
            <a:ext cx="472468" cy="472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574" y="4018459"/>
            <a:ext cx="236263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05449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Trvalá paměť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661574" y="4427141"/>
            <a:ext cx="346532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Když odškrtneš, že jsi dnes vypil vodu, databáze to uloží. Statistiky uvidíš i za rok.</a:t>
            </a:r>
            <a:endParaRPr lang="en-US" sz="14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3309739"/>
            <a:ext cx="472468" cy="472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363135" y="4018459"/>
            <a:ext cx="26499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05449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Přiřazení dat uživateli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4363135" y="4427141"/>
            <a:ext cx="346532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Databáze propojuje přihlášení s konkrétními návyky. Aktivity se nikdy nezobrazí na cizím profilu.</a:t>
            </a:r>
            <a:endParaRPr lang="en-US" sz="14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695" y="3309739"/>
            <a:ext cx="472468" cy="472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064695" y="4018459"/>
            <a:ext cx="236263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05449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Rychlé vyhledávání</a:t>
            </a:r>
            <a:endParaRPr lang="en-US" sz="1850" dirty="0"/>
          </a:p>
        </p:txBody>
      </p:sp>
      <p:sp>
        <p:nvSpPr>
          <p:cNvPr id="12" name="Text 7"/>
          <p:cNvSpPr/>
          <p:nvPr/>
        </p:nvSpPr>
        <p:spPr>
          <a:xfrm>
            <a:off x="8064695" y="4427141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Data lze rychle filtrovat, třídit a zobrazovat — třeba statistiky za poslední týden.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574" y="557510"/>
            <a:ext cx="5982443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Návrh databáze — ER diagram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74" y="1119420"/>
            <a:ext cx="5434426" cy="48868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574" y="6006306"/>
            <a:ext cx="7440922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845130" y="2281634"/>
            <a:ext cx="293938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Jak je databáze navržena?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7845130" y="2609354"/>
            <a:ext cx="3691242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Fyzický model byl navržen v nástroji </a:t>
            </a:r>
            <a:r>
              <a:rPr lang="en-US" sz="11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draw.io</a:t>
            </a:r>
            <a:r>
              <a:rPr lang="en-US" sz="11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s využitím </a:t>
            </a:r>
            <a:r>
              <a:rPr lang="en-US" sz="11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Crow's foot notation</a:t>
            </a:r>
            <a:r>
              <a:rPr lang="en-US" sz="11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pro znázornění tabulek a vazeb.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845130" y="3300313"/>
            <a:ext cx="3691242" cy="1947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Jádro:</a:t>
            </a:r>
            <a:r>
              <a:rPr lang="en-US" sz="11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Tabulka </a:t>
            </a:r>
            <a:r>
              <a:rPr lang="en-US" sz="110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r>
              <a:rPr lang="en-US" sz="11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— každý záznam patří jednomu uživateli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Vztah 1:N:</a:t>
            </a:r>
            <a:r>
              <a:rPr lang="en-US" sz="11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Jeden uživatel → mnoho návyků, statistik, notifikací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Session:</a:t>
            </a:r>
            <a:r>
              <a:rPr lang="en-US" sz="11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Spravuje aktivní přihlášení s časem vypršení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Notifications:</a:t>
            </a:r>
            <a:r>
              <a:rPr lang="en-US" sz="11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Ukládá zprávy a typy upozornění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Aktivity:</a:t>
            </a:r>
            <a:r>
              <a:rPr lang="en-US" sz="11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3 samostatné tabulky pro různé typy návyků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574" y="1240334"/>
            <a:ext cx="8637074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Entity: User, Session, Notification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574" y="2209006"/>
            <a:ext cx="3496778" cy="340866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68183" y="2376091"/>
            <a:ext cx="283461" cy="28346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75980" y="2990453"/>
            <a:ext cx="236263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05449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User</a:t>
            </a:r>
            <a:endParaRPr lang="en-US" sz="1850" dirty="0"/>
          </a:p>
        </p:txBody>
      </p:sp>
      <p:sp>
        <p:nvSpPr>
          <p:cNvPr id="6" name="Text 2"/>
          <p:cNvSpPr/>
          <p:nvPr/>
        </p:nvSpPr>
        <p:spPr>
          <a:xfrm>
            <a:off x="875980" y="3399135"/>
            <a:ext cx="3067965" cy="2004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Identifikace uživatele: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(CUID),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,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(unikátní),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(hash),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,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pfpUrl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,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Username a email slouží pro přihlašování.</a:t>
            </a:r>
            <a:endParaRPr lang="en-US" sz="14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47359" y="2209006"/>
            <a:ext cx="3496877" cy="3408660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54067" y="2376091"/>
            <a:ext cx="283461" cy="283468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4561766" y="2990453"/>
            <a:ext cx="236263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05449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Session</a:t>
            </a:r>
            <a:endParaRPr lang="en-US" sz="1850" dirty="0"/>
          </a:p>
        </p:txBody>
      </p:sp>
      <p:sp>
        <p:nvSpPr>
          <p:cNvPr id="10" name="Text 4"/>
          <p:cNvSpPr/>
          <p:nvPr/>
        </p:nvSpPr>
        <p:spPr>
          <a:xfrm>
            <a:off x="4561766" y="3399135"/>
            <a:ext cx="3068065" cy="13611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Správa přihlášení: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,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userId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(FK),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,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expiresAt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Po vypršení platnosti systém uživatele automaticky odhlásí.</a:t>
            </a:r>
            <a:endParaRPr lang="en-US" sz="14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3244" y="2209006"/>
            <a:ext cx="3496877" cy="3408660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39952" y="2376091"/>
            <a:ext cx="283461" cy="283468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8247650" y="2990453"/>
            <a:ext cx="236263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05449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Notification</a:t>
            </a:r>
            <a:endParaRPr lang="en-US" sz="1850" dirty="0"/>
          </a:p>
        </p:txBody>
      </p:sp>
      <p:sp>
        <p:nvSpPr>
          <p:cNvPr id="14" name="Text 6"/>
          <p:cNvSpPr/>
          <p:nvPr/>
        </p:nvSpPr>
        <p:spPr>
          <a:xfrm>
            <a:off x="8247650" y="3399135"/>
            <a:ext cx="3068065" cy="13611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Oznámení pro uživatele: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,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userId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(FK),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payload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(text zprávy),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Typ rozlišuje: žádost o přátelství nebo upozornění na ztrátu série.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574" y="577453"/>
            <a:ext cx="6445783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Entity: Návyky a aktivity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574" y="1640582"/>
            <a:ext cx="297222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 Denní návyky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661574" y="2124869"/>
            <a:ext cx="5813280" cy="3214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DailyHabit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+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DailyHabitStat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61574" y="2616398"/>
            <a:ext cx="5203695" cy="1039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Název, detaily, ikona, časový cíl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Statistika: dokončeno, aktuální série, nejlepší série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Příklad: „Čtení 20 minut každý večer"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61574" y="3915668"/>
            <a:ext cx="5203695" cy="23614"/>
          </a:xfrm>
          <a:prstGeom prst="roundRect">
            <a:avLst>
              <a:gd name="adj" fmla="val 720407"/>
            </a:avLst>
          </a:prstGeom>
          <a:solidFill>
            <a:srgbClr val="405449">
              <a:alpha val="50000"/>
            </a:srgbClr>
          </a:solidFill>
          <a:ln/>
        </p:spPr>
        <p:txBody>
          <a:bodyPr/>
          <a:lstStyle/>
          <a:p>
            <a:endParaRPr lang="en-CZ"/>
          </a:p>
        </p:txBody>
      </p:sp>
      <p:sp>
        <p:nvSpPr>
          <p:cNvPr id="7" name="Text 5"/>
          <p:cNvSpPr/>
          <p:nvPr/>
        </p:nvSpPr>
        <p:spPr>
          <a:xfrm>
            <a:off x="661574" y="4199136"/>
            <a:ext cx="297222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 Týdenní návyky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61574" y="4683423"/>
            <a:ext cx="5813280" cy="3214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WeeklyHabit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+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WeeklyHabitDay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+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WeeklyHabitStat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61574" y="5174952"/>
            <a:ext cx="5203695" cy="1039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Definuje konkrétní dny v týdnu (ENUM)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Statistika ukládá číslo týdne (1–53)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Příklad: „Posilovna pondělí, středa, pátek"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332776" y="2919809"/>
            <a:ext cx="315696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 Jednorázové aktivity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6332776" y="3404096"/>
            <a:ext cx="5813280" cy="3214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ActivityType</a:t>
            </a: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+ </a:t>
            </a:r>
            <a:r>
              <a:rPr lang="en-US" sz="14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ActivityEntry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332776" y="3895626"/>
            <a:ext cx="5203695" cy="1039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Název, barva (HEX), ikona, viditelnost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Každé splnění má datum a poznámku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Příklad: „Odevzdat projekt z databází"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03177" y="2793405"/>
            <a:ext cx="6185241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dirty="0">
                <a:solidFill>
                  <a:srgbClr val="3B4540"/>
                </a:solidFill>
                <a:latin typeface="Fraunces ExtraBold" pitchFamily="34" charset="0"/>
                <a:ea typeface="Fraunces ExtraBold" pitchFamily="34" charset="-122"/>
                <a:cs typeface="Fraunces ExtraBold" pitchFamily="34" charset="-120"/>
              </a:rPr>
              <a:t>Děkujeme za pozornost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356782" y="3762077"/>
            <a:ext cx="11478132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638</Words>
  <Application>Microsoft Macintosh PowerPoint</Application>
  <PresentationFormat>Widescreen</PresentationFormat>
  <Paragraphs>91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Fraunces ExtraBold</vt:lpstr>
      <vt:lpstr>Consolas</vt:lpstr>
      <vt:lpstr>Nobile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CHORNOPYSKYI Deenys (123)</cp:lastModifiedBy>
  <cp:revision>2</cp:revision>
  <dcterms:created xsi:type="dcterms:W3CDTF">2026-06-14T18:37:38Z</dcterms:created>
  <dcterms:modified xsi:type="dcterms:W3CDTF">2026-06-14T19:05:54Z</dcterms:modified>
</cp:coreProperties>
</file>